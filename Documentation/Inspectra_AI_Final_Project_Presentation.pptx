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0ad9584fe749da" /><Relationship Type="http://schemas.openxmlformats.org/officeDocument/2006/relationships/extended-properties" Target="/docProps/app.xml" Id="R1b1ab7dae3d34006" /><Relationship Type="http://schemas.openxmlformats.org/officeDocument/2006/relationships/officeDocument" Target="/ppt/presentation.xml" Id="R95752368ed81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c3e604f5745f6"/>
  </p:sldMasterIdLst>
  <p:notesMasterIdLst>
    <p:notesMasterId xmlns:r="http://schemas.openxmlformats.org/officeDocument/2006/relationships" r:id="Recec95e2b55d428b"/>
  </p:notesMasterIdLst>
  <p:sldIdLst>
    <p:sldId xmlns:r="http://schemas.openxmlformats.org/officeDocument/2006/relationships" id="256" r:id="Rf67d2b2689a14b50"/>
    <p:sldId xmlns:r="http://schemas.openxmlformats.org/officeDocument/2006/relationships" id="257" r:id="R33c2ce7a858244fa"/>
    <p:sldId xmlns:r="http://schemas.openxmlformats.org/officeDocument/2006/relationships" id="258" r:id="R5360d10982fb430a"/>
    <p:sldId xmlns:r="http://schemas.openxmlformats.org/officeDocument/2006/relationships" id="259" r:id="R02b898ee9360489e"/>
    <p:sldId xmlns:r="http://schemas.openxmlformats.org/officeDocument/2006/relationships" id="260" r:id="R07257f0ee4f04c1b"/>
    <p:sldId xmlns:r="http://schemas.openxmlformats.org/officeDocument/2006/relationships" id="261" r:id="Rbf9a39f5ba6d40e9"/>
    <p:sldId xmlns:r="http://schemas.openxmlformats.org/officeDocument/2006/relationships" id="262" r:id="R9747ec0457b64bac"/>
    <p:sldId xmlns:r="http://schemas.openxmlformats.org/officeDocument/2006/relationships" id="263" r:id="R6b34850ac09b43a4"/>
    <p:sldId xmlns:r="http://schemas.openxmlformats.org/officeDocument/2006/relationships" id="264" r:id="R95696fd977e349c7"/>
    <p:sldId xmlns:r="http://schemas.openxmlformats.org/officeDocument/2006/relationships" id="265" r:id="R1f3cf1e1b9ea45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2e1022bbde4783" /><Relationship Type="http://schemas.openxmlformats.org/officeDocument/2006/relationships/slideMaster" Target="/ppt/slideMasters/slideMaster1.xml" Id="R127c3e604f5745f6" /><Relationship Type="http://schemas.openxmlformats.org/officeDocument/2006/relationships/notesMaster" Target="/ppt/notesMasters/notesMaster1.xml" Id="Recec95e2b55d428b" /><Relationship Type="http://schemas.openxmlformats.org/officeDocument/2006/relationships/presProps" Target="/ppt/presProps.xml" Id="Rdb111052966a4209" /><Relationship Type="http://schemas.openxmlformats.org/officeDocument/2006/relationships/tableStyles" Target="/ppt/tableStyles.xml" Id="R75e34863afd24e41" /><Relationship Type="http://schemas.openxmlformats.org/officeDocument/2006/relationships/slide" Target="/ppt/slides/slide1.xml" Id="Rf67d2b2689a14b50" /><Relationship Type="http://schemas.openxmlformats.org/officeDocument/2006/relationships/slide" Target="/ppt/slides/slide2.xml" Id="R33c2ce7a858244fa" /><Relationship Type="http://schemas.openxmlformats.org/officeDocument/2006/relationships/slide" Target="/ppt/slides/slide3.xml" Id="R5360d10982fb430a" /><Relationship Type="http://schemas.openxmlformats.org/officeDocument/2006/relationships/slide" Target="/ppt/slides/slide4.xml" Id="R02b898ee9360489e" /><Relationship Type="http://schemas.openxmlformats.org/officeDocument/2006/relationships/slide" Target="/ppt/slides/slide5.xml" Id="R07257f0ee4f04c1b" /><Relationship Type="http://schemas.openxmlformats.org/officeDocument/2006/relationships/slide" Target="/ppt/slides/slide6.xml" Id="Rbf9a39f5ba6d40e9" /><Relationship Type="http://schemas.openxmlformats.org/officeDocument/2006/relationships/slide" Target="/ppt/slides/slide7.xml" Id="R9747ec0457b64bac" /><Relationship Type="http://schemas.openxmlformats.org/officeDocument/2006/relationships/slide" Target="/ppt/slides/slide8.xml" Id="R6b34850ac09b43a4" /><Relationship Type="http://schemas.openxmlformats.org/officeDocument/2006/relationships/slide" Target="/ppt/slides/slide9.xml" Id="R95696fd977e349c7" /><Relationship Type="http://schemas.openxmlformats.org/officeDocument/2006/relationships/slide" Target="/ppt/slides/slide10.xml" Id="R1f3cf1e1b9ea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98df136fd3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a7e0419194851" /><Relationship Type="http://schemas.openxmlformats.org/officeDocument/2006/relationships/notesMaster" Target="/ppt/notesMasters/notesMaster1.xml" Id="R769b5cae346c4d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d76d0865ef4781" /><Relationship Type="http://schemas.openxmlformats.org/officeDocument/2006/relationships/notesMaster" Target="/ppt/notesMasters/notesMaster1.xml" Id="R9ffeb4fad8fd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5f9ade3be84b3d" /><Relationship Type="http://schemas.openxmlformats.org/officeDocument/2006/relationships/notesMaster" Target="/ppt/notesMasters/notesMaster1.xml" Id="R39d33e8c717943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71172c8a224d75" /><Relationship Type="http://schemas.openxmlformats.org/officeDocument/2006/relationships/notesMaster" Target="/ppt/notesMasters/notesMaster1.xml" Id="R686e217ebdcf47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79c35f89394c2f" /><Relationship Type="http://schemas.openxmlformats.org/officeDocument/2006/relationships/notesMaster" Target="/ppt/notesMasters/notesMaster1.xml" Id="R8bf35bfd1a8d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5e7d034d714f88" /><Relationship Type="http://schemas.openxmlformats.org/officeDocument/2006/relationships/notesMaster" Target="/ppt/notesMasters/notesMaster1.xml" Id="Rbe7e86acb09c4e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b68367bdb46c6" /><Relationship Type="http://schemas.openxmlformats.org/officeDocument/2006/relationships/notesMaster" Target="/ppt/notesMasters/notesMaster1.xml" Id="R8bf9d38f231a46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2ca0f8de904c5a" /><Relationship Type="http://schemas.openxmlformats.org/officeDocument/2006/relationships/notesMaster" Target="/ppt/notesMasters/notesMaster1.xml" Id="Rd7a3fee99a2c47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1dd29c965e47e2" /><Relationship Type="http://schemas.openxmlformats.org/officeDocument/2006/relationships/notesMaster" Target="/ppt/notesMasters/notesMaster1.xml" Id="Ra06c440e393247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4f04a97a264e82" /><Relationship Type="http://schemas.openxmlformats.org/officeDocument/2006/relationships/notesMaster" Target="/ppt/notesMasters/notesMaster1.xml" Id="Rf8679cdbcda9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integrated release. Sources: Inspectra AI app.py, README.md, installer script and installed_app_selftest.json. The report distinguishes earlier DefectVision AI and AI Restoration Studio results from this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Defectx_PS02.pptx slides 2-7; AI_Restoration_Studio_Project_Presentation.pptx slides 2-4; Final_Project_Report.pdf pp.5 and 28; current app.py. Drift correction is future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app.py, pipeline selection, MainWindow layout and batch/report methods. Screenshot captured from the current source build with no image loaded. It demonstrates layout, not detection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model inventory, app.py and installed_app_selftest.json. Four checkpoints each for SegFormer, DeepLabV3+ and HRNet, plus three U-Net++ checkpoints. Earlier Attention U-Net, Restormer and EDSR experiments do not represent bundled current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run_enhancement and choose_defect_outcome. Confidence score = sum(region confidence x region area) / sum(region area), or zero when no region exists. Different architectures may have different calibration. Changing references requires rerunning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AI_Restoration_Studio_Project_Presentation.pptx slides 3-6; Final_Project_Report.pdf pp.7, 13, 19, 22 and 28. Source split: 2910 training, 831 validation, 417 test. Historical PSNR/SSIM/LPIPS are source reported and have not been remeasured here. No current end-to-end accuracy claim follows.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BatchStore, metadata validation, inspector decision and rollover_completed_batch. Capacity locks after collection. Completion depends on saved results, so a completed batch can still include awaiting-decision samples. Decisions are manual. A 100-sample batch is an example capacity, not a fixed system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app.py image_quality_metrics and BRISQUE implementation; Final_Project_Report.pdf metric discussion. Images normalize grayscale values to [0,1]. Reference dimensions must match the stage output. LPIPS belongs to the historical study and is not a current runtime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app.py write_batch_pdf and storage configuration, InspectraAI.iss and build spec. Installer is about 1.25 GB. It installs per user and preserves reports/internal data on uninstall. Finite valid N governs metric means. The batch PDF is distinct from the twenty-page project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installed_app_selftest.json and installer logs; current app.py; Defectx_PS02.pptx future integration scope; Final_Project_Report.pdf limitations. The smoke test is not a labeled accuracy benchmark or line-rate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9d580308a47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cbad26dc940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9e0d90af846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1adc5c62048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2e22219934b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2d108505945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DBFE6-884E-4C25-9F16-4905E25CC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8283BD-86C8-4BC8-906E-6865016689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B88BD6-D013-4596-8FA1-6F5CA7AF3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B6399B-82D0-4BB5-8102-B0D808D7A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0723D7-6A65-4805-8A8C-F2B6FA59E6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690F73-5819-4265-8BF0-4B4D1B224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BD4C8E-A70E-4EC2-BF6E-16564CC1AC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08C6D7-9BA8-4FCA-9360-2B73F904CA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AE82D1-31E1-43E5-8B4E-5F55639FFC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09F07B-F0EC-49F5-B6C6-6C051E6F9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07b584ec644714" /><Relationship Type="http://schemas.openxmlformats.org/officeDocument/2006/relationships/slideLayout" Target="/ppt/slideLayouts/slideLayout1.xml" Id="R1848aa0ac2594c0b" /><Relationship Type="http://schemas.openxmlformats.org/officeDocument/2006/relationships/slideLayout" Target="/ppt/slideLayouts/slideLayout2.xml" Id="R9d22002d4e1f41ce" /><Relationship Type="http://schemas.openxmlformats.org/officeDocument/2006/relationships/slideLayout" Target="/ppt/slideLayouts/slideLayout3.xml" Id="Rd83bbd59bcdc4d0d" /><Relationship Type="http://schemas.openxmlformats.org/officeDocument/2006/relationships/slideLayout" Target="/ppt/slideLayouts/slideLayout4.xml" Id="R092ca4b8c2b04b9f" /><Relationship Type="http://schemas.openxmlformats.org/officeDocument/2006/relationships/slideLayout" Target="/ppt/slideLayouts/slideLayout5.xml" Id="Ra4f9e140c5f44e0a" /><Relationship Type="http://schemas.openxmlformats.org/officeDocument/2006/relationships/slideLayout" Target="/ppt/slideLayouts/slideLayout6.xml" Id="R7c378822742a4d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48aa0ac2594c0b"/>
    <p:sldLayoutId xmlns:r="http://schemas.openxmlformats.org/officeDocument/2006/relationships" id="2147483650" r:id="R9d22002d4e1f41ce"/>
    <p:sldLayoutId xmlns:r="http://schemas.openxmlformats.org/officeDocument/2006/relationships" id="2147483651" r:id="Rd83bbd59bcdc4d0d"/>
    <p:sldLayoutId xmlns:r="http://schemas.openxmlformats.org/officeDocument/2006/relationships" id="2147483652" r:id="R092ca4b8c2b04b9f"/>
    <p:sldLayoutId xmlns:r="http://schemas.openxmlformats.org/officeDocument/2006/relationships" id="2147483653" r:id="Ra4f9e140c5f44e0a"/>
    <p:sldLayoutId xmlns:r="http://schemas.openxmlformats.org/officeDocument/2006/relationships" id="2147483654" r:id="R7c378822742a4d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0c7bb0d9b4113" /><Relationship Type="http://schemas.openxmlformats.org/officeDocument/2006/relationships/image" Target="/ppt/media/image.png" Id="Ra11583a2651642fb" /><Relationship Type="http://schemas.openxmlformats.org/officeDocument/2006/relationships/notesSlide" Target="/ppt/notesSlides/notesSlide1.xml" Id="Re14416849c5d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f0dd2204943d6" /><Relationship Type="http://schemas.openxmlformats.org/officeDocument/2006/relationships/notesSlide" Target="/ppt/notesSlides/notesSlide2.xml" Id="R8df65e155de0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8cf44b6bf4676" /><Relationship Type="http://schemas.openxmlformats.org/officeDocument/2006/relationships/image" Target="/ppt/media/image2.png" Id="Rd4473a72f37f4622" /><Relationship Type="http://schemas.openxmlformats.org/officeDocument/2006/relationships/notesSlide" Target="/ppt/notesSlides/notesSlide3.xml" Id="Raabb2c1270a740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c0c428dda4100" /><Relationship Type="http://schemas.openxmlformats.org/officeDocument/2006/relationships/notesSlide" Target="/ppt/notesSlides/notesSlide4.xml" Id="Rd0d909f3636e43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b7b36e4ef45c7" /><Relationship Type="http://schemas.openxmlformats.org/officeDocument/2006/relationships/notesSlide" Target="/ppt/notesSlides/notesSlide5.xml" Id="Ra8bd82c6d9fb49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d12f9c47b42d6" /><Relationship Type="http://schemas.openxmlformats.org/officeDocument/2006/relationships/notesSlide" Target="/ppt/notesSlides/notesSlide6.xml" Id="R38d1d859ef0246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2af864bcb4c68" /><Relationship Type="http://schemas.openxmlformats.org/officeDocument/2006/relationships/notesSlide" Target="/ppt/notesSlides/notesSlide7.xml" Id="Rd64720b5194e46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0f78f12714e10" /><Relationship Type="http://schemas.openxmlformats.org/officeDocument/2006/relationships/notesSlide" Target="/ppt/notesSlides/notesSlide8.xml" Id="R2c6fdaf23b0a48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54241f98641a9" /><Relationship Type="http://schemas.openxmlformats.org/officeDocument/2006/relationships/notesSlide" Target="/ppt/notesSlides/notesSlide9.xml" Id="Rcb96be88ad6349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a737207a74baf" /><Relationship Type="http://schemas.openxmlformats.org/officeDocument/2006/relationships/notesSlide" Target="/ppt/notesSlides/notesSlide10.xml" Id="R3a4087d1c37b4c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E80BE-0800-4234-A8B3-1FA8EBF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B056A-A35F-495C-86E7-EA24DA5A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53C92-B1B3-4A10-8749-9F8D563E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012E3-0F63-4127-9418-B42658A8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 restoration and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 defect inspection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1AEA0-A622-49DF-8207-9ADBCE64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  <a:p xmlns:a="http://schemas.openxmlformats.org/drawingml/2006/main">
            <a:pPr>
              <a:defRPr sz="20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October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EC714-2221-4DE1-BC86-3273A34F6F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583a2651642fb"/>
          <a:stretch xmlns:a="http://schemas.openxmlformats.org/drawingml/2006/main"/>
        </p:blipFill>
        <p:spPr>
          <a:xfrm xmlns:a="http://schemas.openxmlformats.org/drawingml/2006/main">
            <a:off x="8096250" y="1524000"/>
            <a:ext cx="3143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4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9649-22DD-431D-A2D3-8417C84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The inspection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3D022-3D72-4742-B1AD-28E186DE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26276-9D08-49FB-B4F1-FABB425A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3FD05-A0EE-41A7-91B2-800845F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Image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46E64-75F9-4627-868C-936EF93B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Noise and limited resolution obscure small structures. Enhancement can also alter a real defect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5AE92-202E-4464-9BF5-D17F1FF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Inspection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D592A-782C-48C6-A85E-8428258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Each sample needs traceable IDs, an inspection result, and a clear decision status in the batch summary.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D4F12-F532-4E8B-8AEC-EAF14BD0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AF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FC6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54224-28C2-45B4-BE3B-D8AA4818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Connect enhancement, pixel-level localization, human review, and collective reporting in one desktop workflow.</a:t>
            </a:r>
          </a:p>
        </p:txBody>
      </p:sp>
    </p:spTree>
    <p:extLst>
      <p:ext uri="{BB962C8B-B14F-4D97-AF65-F5344CB8AC3E}">
        <p14:creationId xmlns:p14="http://schemas.microsoft.com/office/powerpoint/2010/main" val="1555618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0D846-F76C-417D-BA8A-1D00CF27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Integrated processing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7E235-B2FE-4479-B75C-5DB56F4F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9A01F-19EF-408F-9FF5-707FA267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3FA99-FCCD-4379-AC8E-47BF34D4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905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01  Register 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02  Restore when selected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03  Upscale when selected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04  Detect chosen defects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05  Review and report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B7988-554C-4EC5-838B-77EF8E25B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73a72f37f4622"/>
          <a:stretch xmlns:a="http://schemas.openxmlformats.org/drawingml/2006/main"/>
        </p:blipFill>
        <p:spPr>
          <a:xfrm xmlns:a="http://schemas.openxmlformats.org/drawingml/2006/main">
            <a:off x="4805363" y="1581150"/>
            <a:ext cx="6629400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F8FBE-758B-41F7-99BA-740E5212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57875"/>
            <a:ext cx="690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Detection uses the latest successful stage: super-resolution, restoration, or original.</a:t>
            </a:r>
          </a:p>
        </p:txBody>
      </p:sp>
    </p:spTree>
    <p:extLst>
      <p:ext uri="{BB962C8B-B14F-4D97-AF65-F5344CB8AC3E}">
        <p14:creationId xmlns:p14="http://schemas.microsoft.com/office/powerpoint/2010/main" val="772276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F554C-F859-4067-AD7D-024996A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Current model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79159-9210-4CA2-9B22-F992CC82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1FC19-6747-4D05-BB14-F3024A18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7B072-59A7-453B-A87C-619447A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22 bundled checkpoints across three processing tasks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C7F5B-1482-4A6D-9EFB-423C23E9EBAD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953250"/>
                <a:gridCol w="1733550"/>
              </a:tblGrid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families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Checkpoints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Restoration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MIRNet v2, MPRNet, NAFNet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2x super-resolution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ESRGAN, RCAN, SRCNN, SwinIR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Defect segmentation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SegFormer, DeepLabV3+, HRNet, U-Net++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C89F4-8707-469F-90D9-1E513316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Defect classes: Blowhole, Crack, Fray, Break</a:t>
            </a:r>
          </a:p>
          <a:p xmlns:a="http://schemas.openxmlformats.org/drawingml/2006/main">
            <a:pPr>
              <a:defRPr sz="18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U-Net++ covers Crack, Fray, and Break in the supplied collection.</a:t>
            </a:r>
          </a:p>
        </p:txBody>
      </p:sp>
    </p:spTree>
    <p:extLst>
      <p:ext uri="{BB962C8B-B14F-4D97-AF65-F5344CB8AC3E}">
        <p14:creationId xmlns:p14="http://schemas.microsoft.com/office/powerpoint/2010/main" val="1464714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1C641-1387-4332-B6F3-EB19DC6C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Automatic model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163F2-F72B-4A5C-8000-A3913706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51864-B53B-4C22-949E-693BC6E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8C539-5482-40B4-830E-5DEE0751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Enhancement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FC286-D161-4438-B8C3-653ABFA1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Aligned clean reference</a:t>
            </a:r>
          </a:p>
          <a:p xmlns:a="http://schemas.openxmlformats.org/drawingml/2006/main">
            <a: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Highest SSIM wins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No clean reference</a:t>
            </a:r>
          </a:p>
          <a:p xmlns:a="http://schemas.openxmlformats.org/drawingml/2006/main">
            <a: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Lowest BRISQUE wins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9DBEA-DDA5-4C15-9D1A-AA69B1E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Defect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8F0F5-8EFF-471B-9959-4EA86B82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Run available candidates for each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Select the highest area-weighted detected-region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EC6BB-830B-4061-81C3-9026BCED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Automatic mode compares every candidate. Confidence ranking is an estimate and does not establish defect accuracy.</a:t>
            </a:r>
          </a:p>
        </p:txBody>
      </p:sp>
    </p:spTree>
    <p:extLst>
      <p:ext uri="{BB962C8B-B14F-4D97-AF65-F5344CB8AC3E}">
        <p14:creationId xmlns:p14="http://schemas.microsoft.com/office/powerpoint/2010/main" val="1051305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B0645-33C1-41F1-93F5-5072091F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Historical research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B4DDC-16F2-4B12-A0C2-036350E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2A87D-3B5B-4256-930E-6BCB6893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2824C-FC6B-4333-B1BF-A9389DE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4,158 SEM sources support two separate paired tasks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6EC68-3454-492C-916D-C84DC0906622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29000"/>
                <a:gridCol w="4210050"/>
              </a:tblGrid>
              <a:tr h="77787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Earlier study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EDSR super-resolution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29.355 dB PSNR</a:t>
                      </a:r>
                    </a:p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0.9819 SSIM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Historical SEM benchmark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Restormer denoising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20.814 dB PSNR</a:t>
                      </a:r>
                    </a:p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0.4085 LPIPS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Historical SEM benchmark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E60E0-6342-4452-9CEE-1498720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These earlier models are not bundled current enhancement candidates.</a:t>
            </a:r>
          </a:p>
          <a:p xmlns:a="http://schemas.openxmlformats.org/drawingml/2006/main">
            <a: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The source report flags inconsistent SSIM implementations across some notebooks.</a:t>
            </a:r>
          </a:p>
        </p:txBody>
      </p:sp>
    </p:spTree>
    <p:extLst>
      <p:ext uri="{BB962C8B-B14F-4D97-AF65-F5344CB8AC3E}">
        <p14:creationId xmlns:p14="http://schemas.microsoft.com/office/powerpoint/2010/main" val="479901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4E10A-0E6C-4F06-97A8-1659D9AB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Sample decisions and batch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C6B0E-04AC-45FD-B740-791664D1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4813-F6F3-4BD6-879C-A57E65C2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8561D-1BAA-4A04-BBED-D2AFFF8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Before inspection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A3451-41E6-44F8-9E2A-2BB868E0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Required worker, batch, and product 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Positive batch capacity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One or more chosen defect 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295EC-3D22-4357-8777-536AE148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After 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B81BB-FC1C-4BAF-9921-569991F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Accepted, Rejected, or Needs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Reinspection updates the same 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A full inspected batch saves its PDF and advances automatically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144E0-3D07-4E97-BBEA-61E1D59A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New launches start counting from zero. Archived records remain available on disk.</a:t>
            </a:r>
          </a:p>
        </p:txBody>
      </p:sp>
    </p:spTree>
    <p:extLst>
      <p:ext uri="{BB962C8B-B14F-4D97-AF65-F5344CB8AC3E}">
        <p14:creationId xmlns:p14="http://schemas.microsoft.com/office/powerpoint/2010/main" val="62043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616A-A13A-4FB3-94DE-77DF900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Quality metrics and reference images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40428-325A-4937-91D3-2088497F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A1CE7-48F5-4C6D-9B6D-5DFFC82B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D979E-D584-4CAE-87EA-52C19527D785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381250"/>
                <a:gridCol w="4781550"/>
              </a:tblGrid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needed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T w="9525">
                      <a:solidFill>
                        <a:srgbClr val="D5DFE5"/>
                      </a:solidFill>
                      <a:prstDash val="solid"/>
                    </a:lnT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0C253B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PSNR and SSIM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Agreement with aligned clean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MSE and MAE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Pixel error against the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BRISQUE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Image-quality estimate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Sharpness, entropy, contrast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Descriptive image properties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Region confidence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5"/>
                      </a:solidFill>
                      <a:prstDash val="solid"/>
                    </a:lnL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No paired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02A3D"/>
                          </a:solidFill>
                          <a:latin typeface="Arial"/>
                          <a:ea typeface="Arial"/>
                          <a:cs typeface="Arial"/>
                        </a:rPr>
                        <a:t>Model score, not a confidence interval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5"/>
                      </a:solidFill>
                      <a:prstDash val="solid"/>
                    </a:lnR>
                    <a:lnB w="9525">
                      <a:solidFill>
                        <a:srgbClr val="D5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6C8E0-7190-44CD-BE0C-7A0FF347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N/A is expected when a clean reference is missing or mismatched.</a:t>
            </a:r>
          </a:p>
          <a:p xmlns:a="http://schemas.openxmlformats.org/drawingml/2006/main">
            <a:pPr>
              <a:defRPr sz="195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The degraded original is not automatically ground truth.</a:t>
            </a:r>
          </a:p>
        </p:txBody>
      </p:sp>
    </p:spTree>
    <p:extLst>
      <p:ext uri="{BB962C8B-B14F-4D97-AF65-F5344CB8AC3E}">
        <p14:creationId xmlns:p14="http://schemas.microsoft.com/office/powerpoint/2010/main" val="855524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ED91C-604A-4BA7-9CEE-37D507D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Reports and Windows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67DBB-08F7-4CB5-BDE0-63232AB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9B38B-4F69-4A84-8124-E84788C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1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BE12A-1E74-4B8D-979E-703C0E0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Two-page batch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2D7ED-AFC4-4C15-B370-75D2490F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Sample and decision totals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Defect region counts and mean confidence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Average image quality and upscaling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No image appendices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2ED3F-FFA5-475D-B5AD-951BBAA6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D"/>
                </a:solidFill>
                <a:latin typeface="Arial"/>
                <a:ea typeface="Arial"/>
                <a:cs typeface="Arial"/>
              </a:rPr>
              <a:t>Self-contained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11358-9168-4CDD-A1A8-D5A67837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Inno Setup installer with application icon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Bundled models and Python runtime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PDF-only runtime outputs folder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A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3D"/>
                </a:solidFill>
                <a:latin typeface="Arial"/>
                <a:ea typeface="Arial"/>
                <a:cs typeface="Arial"/>
              </a:rPr>
              <a:t>Separate internal session storage</a:t>
            </a:r>
          </a:p>
        </p:txBody>
      </p:sp>
    </p:spTree>
    <p:extLst>
      <p:ext uri="{BB962C8B-B14F-4D97-AF65-F5344CB8AC3E}">
        <p14:creationId xmlns:p14="http://schemas.microsoft.com/office/powerpoint/2010/main" val="1041109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2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15884-789A-4CA5-9C04-9FF6984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3AB3D-1608-4877-B68D-693E6DC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Inspectra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E91C0-3887-4969-ABAE-7A5D6F0B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3B3B5-337C-46A3-9A43-45E6C5A3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installed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A3C0-ECA0-42E1-93B0-9E1B56B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22 checkpoint forward passes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Synthetic inspection and two-page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Batch rollover and PDF-only exports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Installation and uninstallation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CD9DD-37C0-4093-92A0-7C4EB5E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validation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CA018-A8F2-4E46-BC55-3F7E0E5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7625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Held-out production defect masks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Calibrated detection thresholds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Measured cycle time and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6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E6ED"/>
                </a:solidFill>
                <a:latin typeface="Arial"/>
                <a:ea typeface="Arial"/>
                <a:cs typeface="Arial"/>
              </a:rPr>
              <a:t>Separate Drift-Sense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BB48F-4652-4722-8814-03D8F090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0DB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0DBE7"/>
                </a:solidFill>
                <a:latin typeface="Arial"/>
                <a:ea typeface="Arial"/>
                <a:cs typeface="Arial"/>
              </a:rPr>
              <a:t>Functional integration is verified. Production accuracy and closed-loop drift recovery require further evidence.</a:t>
            </a:r>
          </a:p>
        </p:txBody>
      </p:sp>
    </p:spTree>
    <p:extLst>
      <p:ext uri="{BB962C8B-B14F-4D97-AF65-F5344CB8AC3E}">
        <p14:creationId xmlns:p14="http://schemas.microsoft.com/office/powerpoint/2010/main" val="22726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2026-10-20T16:08:07.2730000Z</dcterms:created>
  <dcterms:modified xsi:type="dcterms:W3CDTF">2026-10-20T16:08:07.2730000Z</dcterms:modified>
</coreProperties>
</file>